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734"/>
  </p:normalViewPr>
  <p:slideViewPr>
    <p:cSldViewPr snapToGrid="0">
      <p:cViewPr varScale="1">
        <p:scale>
          <a:sx n="147" d="100"/>
          <a:sy n="147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B622D-78A9-994F-9FE6-B78C83368C8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A2F74-59D4-D149-8466-D5687360F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02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A2F74-59D4-D149-8466-D5687360F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57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72106-6693-35F7-FE01-544BE102E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9A815-988F-A0F0-9643-E40D75EC7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B415A-E48A-0171-E22D-D70097A31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D1D7A-6B2A-0956-E0CD-685E6B05C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E1F2B-0C10-D3B0-5E85-BB84BC26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01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98D62-ED9F-B55A-5EA1-D8060DE2E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28972-8D38-3393-FE61-514CA17B7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45F56-20A2-80E4-1FF9-52FE0081B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7ED1A-4F12-5299-D44A-BCD8115CE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C8D1E-5E3E-C166-C4DA-8DA3EC5D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4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ECE95-9893-DFB9-FB8A-51080EC6D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80A29-8BB0-6E9B-4FB4-641AB7C7D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7C8FB-0320-6FA9-F493-6876925B3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53198-E960-603B-C9EF-7811229FB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ECFCA-7F04-B3D7-BEC2-A9B9811E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4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62362-122A-F507-9680-890548EDE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1EF21-D48C-FF4D-9CCF-9431B96DB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022D3-A5A0-88C4-491C-893B38328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D657A-EDE3-1B7F-AC3A-1C55E4B16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3470A-B8E9-D862-D15D-94E3749B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39FB0-27E4-9851-BE64-C82712C2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19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911E5-412B-D7CB-FFC4-F0E469BC6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5BBC2-5BB1-452B-BE58-3C279F029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6B53C-DDF2-52CF-1992-A15714973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A3C9E5-DD81-AED3-D624-E39CD3E67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93131-10D7-0EE5-7556-9A358EC75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D1B1B-11E5-DFF9-C2D3-4A980BC4B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7D8AEE-87BB-E73D-F507-A16D3D7DA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FB3A71-9DA6-3B35-427A-6CCEABDC3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10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E557D-2729-D526-2A25-D4F2EDD30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5735A-A9D0-4FC2-3B4E-ACD731483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D5D9D4-8689-0E7D-485E-6B8192AD3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DC408-EBD6-835D-98BE-9F9C345D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94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6ABE3F-FCED-61B9-F0A2-DD7B7A2FC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EB4D1-0567-DD26-980E-6A4E5CE2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3D92A-7D18-B2EB-EFE1-08EAADA4B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98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A40B-845E-D4AE-E37B-51E2B174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1D374-9FB7-FC90-0562-BDD66B315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0D34B4-02C3-B506-0FE4-849C741FB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6160C-CE7A-D3FD-A970-4F6AD6C2F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F4AD9-8B50-DFDF-E844-19FD7126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C9808B-ED7E-565F-0B68-08C5D754F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239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6FDA7-39F6-0037-560A-C9008CE4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323A5E-F48C-47BE-E62D-13FEE27BC8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B071D-B39C-CBAB-6191-EC25F05E6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1E841-4324-A07E-51E4-06132E4A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733C9-105F-DBFF-3F74-E05F117E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B632F-3801-2322-3AE0-3265E39C2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7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8496F-5223-A0D0-E249-45F6F49FD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43C92-C998-B20D-91B5-E93FF7EB4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06703-30BC-9023-F17E-231C0948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185C9-E5B8-8AD8-D0D7-D7E6667B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16C76-180A-F22C-EB10-C0D83A91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CFE4CA-F572-5D45-6F0D-09A8AF657B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613A37-B67A-66CC-3D01-4D6AD13ED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B1039-1BEC-46F8-D3CA-CEB2B5BA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98D59-94B9-ADEA-58F1-8CA4903E8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51081-419C-4C42-B70B-979187B9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4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1B6F3A-E24B-2EC4-E199-D068B16C4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F0A93C-DA4B-0698-E399-F85C8EE26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1FA49-0214-931D-3CC3-AA6E4DC37A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9D2B1-3823-B045-B32D-C7BA9FB19A67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EBEC0-CD3D-9B8E-011D-3C1C39B3F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476D4-D838-3661-1685-A18E7F7E3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075B7-FA7C-CF4C-85D8-C6D380047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910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A3D98-6162-C1B9-0887-1BAC222DC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550" y="1184366"/>
            <a:ext cx="9897035" cy="1262472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Knowledge Control for Responsible Generative AI: </a:t>
            </a:r>
            <a:br>
              <a:rPr lang="en-US" sz="4000" dirty="0"/>
            </a:br>
            <a:r>
              <a:rPr lang="en-US" sz="4000" dirty="0"/>
              <a:t>Bridging Academia, Industry and Society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5925F-D941-F54E-BA4C-870CC7D9203A}"/>
              </a:ext>
            </a:extLst>
          </p:cNvPr>
          <p:cNvSpPr txBox="1"/>
          <p:nvPr/>
        </p:nvSpPr>
        <p:spPr>
          <a:xfrm>
            <a:off x="1415379" y="4015598"/>
            <a:ext cx="2059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Zheyuan (Frank) Liu</a:t>
            </a:r>
          </a:p>
          <a:p>
            <a:pPr algn="ctr"/>
            <a:r>
              <a:rPr lang="en-US" dirty="0"/>
              <a:t>Notre Dame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4016C3-D3DF-B642-CB7A-690A54972819}"/>
              </a:ext>
            </a:extLst>
          </p:cNvPr>
          <p:cNvSpPr txBox="1"/>
          <p:nvPr/>
        </p:nvSpPr>
        <p:spPr>
          <a:xfrm>
            <a:off x="3758211" y="4033017"/>
            <a:ext cx="1908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Yixin (Elaine) Wan</a:t>
            </a:r>
          </a:p>
          <a:p>
            <a:pPr algn="ctr"/>
            <a:r>
              <a:rPr lang="en-US" dirty="0"/>
              <a:t>UCLA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0DFB3A-8887-54FD-4BE6-7371C0B9A1AB}"/>
              </a:ext>
            </a:extLst>
          </p:cNvPr>
          <p:cNvSpPr txBox="1"/>
          <p:nvPr/>
        </p:nvSpPr>
        <p:spPr>
          <a:xfrm>
            <a:off x="6400582" y="4033657"/>
            <a:ext cx="1566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Kai-Wei Chang</a:t>
            </a:r>
          </a:p>
          <a:p>
            <a:pPr algn="ctr"/>
            <a:r>
              <a:rPr lang="en-US" dirty="0"/>
              <a:t>UCLA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77E5CA-C032-7421-B2FA-89270ED992FB}"/>
              </a:ext>
            </a:extLst>
          </p:cNvPr>
          <p:cNvSpPr txBox="1"/>
          <p:nvPr/>
        </p:nvSpPr>
        <p:spPr>
          <a:xfrm>
            <a:off x="9046486" y="4017723"/>
            <a:ext cx="13310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Meng Jiang</a:t>
            </a:r>
          </a:p>
          <a:p>
            <a:pPr algn="ctr"/>
            <a:r>
              <a:rPr lang="en-US" dirty="0"/>
              <a:t>Notre Dame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B5A99E-6326-DC43-BA88-0A000C029EC6}"/>
              </a:ext>
            </a:extLst>
          </p:cNvPr>
          <p:cNvSpPr txBox="1"/>
          <p:nvPr/>
        </p:nvSpPr>
        <p:spPr>
          <a:xfrm>
            <a:off x="1851267" y="5930808"/>
            <a:ext cx="11876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Jieyu Zhao</a:t>
            </a:r>
          </a:p>
          <a:p>
            <a:pPr algn="ctr"/>
            <a:r>
              <a:rPr lang="en-US" dirty="0"/>
              <a:t>USC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44CF1A-F86F-93BF-35C0-C6C12A82FD55}"/>
              </a:ext>
            </a:extLst>
          </p:cNvPr>
          <p:cNvSpPr txBox="1"/>
          <p:nvPr/>
        </p:nvSpPr>
        <p:spPr>
          <a:xfrm>
            <a:off x="4060088" y="5941684"/>
            <a:ext cx="1305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Nouha Dziri</a:t>
            </a:r>
          </a:p>
          <a:p>
            <a:pPr algn="ctr"/>
            <a:r>
              <a:rPr lang="en-US" dirty="0"/>
              <a:t>AI2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139B4E-0553-871D-E166-DD6249C88FFA}"/>
              </a:ext>
            </a:extLst>
          </p:cNvPr>
          <p:cNvSpPr txBox="1"/>
          <p:nvPr/>
        </p:nvSpPr>
        <p:spPr>
          <a:xfrm>
            <a:off x="6523275" y="5993872"/>
            <a:ext cx="1321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Yuning Mao</a:t>
            </a:r>
          </a:p>
          <a:p>
            <a:pPr algn="ctr"/>
            <a:r>
              <a:rPr lang="en-US" dirty="0"/>
              <a:t>Meta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31D5D4-0ED7-EC0D-C5DC-C8B968AF6428}"/>
              </a:ext>
            </a:extLst>
          </p:cNvPr>
          <p:cNvSpPr txBox="1"/>
          <p:nvPr/>
        </p:nvSpPr>
        <p:spPr>
          <a:xfrm>
            <a:off x="9013653" y="5930808"/>
            <a:ext cx="2033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Maybe Jindong Gu?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3D36DA-59D8-2CFC-37BB-0237DA757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614" y="4862168"/>
            <a:ext cx="1129900" cy="10686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1750844-BF27-CA85-100C-DA0F029B2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131" y="4944734"/>
            <a:ext cx="1123078" cy="9969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BAE485A-95D5-7DEC-6B3C-56BBA89AE5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304" y="4935216"/>
            <a:ext cx="1058656" cy="10586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6BAEB8B-1BE8-7199-725D-73AB09A92C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3593" y="2885699"/>
            <a:ext cx="1116793" cy="115224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42C3550-FF6B-7781-8F90-C6EA8AA68F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8281" y="2849885"/>
            <a:ext cx="1051123" cy="11850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39A1D7D-3266-600A-EE12-B070FDD901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6915" y="2885699"/>
            <a:ext cx="1129900" cy="11299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65C4242-DF1E-3DDD-9828-CBA2118EE0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1614" y="2841346"/>
            <a:ext cx="1129900" cy="112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24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817DB-1CBA-BBE3-0CAC-562A27786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78402-25E9-9114-2536-6D48E17A2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Part I: Introduction </a:t>
            </a:r>
            <a:r>
              <a:rPr lang="en-US" b="1" dirty="0"/>
              <a:t>(15 minutes) 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Part II: Machine Unlearning for Knowledge Removal </a:t>
            </a:r>
            <a:r>
              <a:rPr lang="en-US" b="1" dirty="0"/>
              <a:t>(35 min)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Part III: Knowledge Editing for Targeted Modification </a:t>
            </a:r>
            <a:r>
              <a:rPr lang="en-US" b="1" dirty="0"/>
              <a:t>(35 min)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b="1" dirty="0"/>
              <a:t> Coffee Break (30 minutes)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Part IV: Industry Perspectives on Trustworthy Knowledge Control </a:t>
            </a:r>
            <a:r>
              <a:rPr lang="en-US" b="1" dirty="0"/>
              <a:t>(30 min) 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Part V: Reflective and Bias-Aware Knowledge Control </a:t>
            </a:r>
            <a:r>
              <a:rPr lang="en-US" b="1" dirty="0"/>
              <a:t>(30 min)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dirty="0"/>
              <a:t> Part VI: Evaluation and Responsible Deployment </a:t>
            </a:r>
            <a:r>
              <a:rPr lang="en-US" b="1" dirty="0"/>
              <a:t>(25 min)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r>
              <a:rPr lang="en-US" b="1" dirty="0"/>
              <a:t> </a:t>
            </a:r>
            <a:r>
              <a:rPr lang="en-US" dirty="0"/>
              <a:t>Part VII: Conclusion and Future Directions</a:t>
            </a:r>
            <a:r>
              <a:rPr lang="en-US" b="1" dirty="0"/>
              <a:t> (15 min)</a:t>
            </a:r>
          </a:p>
          <a:p>
            <a:pPr>
              <a:lnSpc>
                <a:spcPct val="150000"/>
              </a:lnSpc>
              <a:buFont typeface="Wingdings" pitchFamily="2" charset="2"/>
              <a:buChar char="q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7131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F2D8-1DEF-13E3-A2C9-2ACB34CD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71F67-D413-B629-7BB1-DED38A1A1A5D}"/>
              </a:ext>
            </a:extLst>
          </p:cNvPr>
          <p:cNvSpPr txBox="1"/>
          <p:nvPr/>
        </p:nvSpPr>
        <p:spPr>
          <a:xfrm>
            <a:off x="921389" y="2782669"/>
            <a:ext cx="13310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Meng Jiang</a:t>
            </a:r>
          </a:p>
          <a:p>
            <a:pPr algn="ctr"/>
            <a:r>
              <a:rPr lang="en-US" dirty="0"/>
              <a:t>Notre Dame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830F6D-821A-F938-78C5-A934CE70E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96" y="1650645"/>
            <a:ext cx="1116793" cy="115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300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F2D8-1DEF-13E3-A2C9-2ACB34CD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 (30 mins)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ABFD71-D553-9920-C9FE-5731AB020515}"/>
              </a:ext>
            </a:extLst>
          </p:cNvPr>
          <p:cNvSpPr txBox="1"/>
          <p:nvPr/>
        </p:nvSpPr>
        <p:spPr>
          <a:xfrm>
            <a:off x="492270" y="2782669"/>
            <a:ext cx="20594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Zheyuan (Frank) Liu</a:t>
            </a:r>
          </a:p>
          <a:p>
            <a:pPr algn="ctr"/>
            <a:r>
              <a:rPr lang="en-US" dirty="0"/>
              <a:t>Notre Dame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B55547-06CF-0066-DF7F-C6A4D2203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05" y="1608417"/>
            <a:ext cx="1129900" cy="1129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DCAC83-F0BA-6016-6350-171673A48246}"/>
              </a:ext>
            </a:extLst>
          </p:cNvPr>
          <p:cNvSpPr txBox="1"/>
          <p:nvPr/>
        </p:nvSpPr>
        <p:spPr>
          <a:xfrm>
            <a:off x="3991903" y="1490007"/>
            <a:ext cx="687639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Paper Lists:</a:t>
            </a:r>
          </a:p>
          <a:p>
            <a:r>
              <a:rPr lang="en-US" dirty="0"/>
              <a:t>1. Towards Safer Large Language Models through Machine Unlearning</a:t>
            </a:r>
          </a:p>
          <a:p>
            <a:r>
              <a:rPr lang="en-US" dirty="0"/>
              <a:t>2. Negative Preference Optimization: From Catastrophic Collapse to Effective Unlearning</a:t>
            </a:r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dirty="0"/>
              <a:t>Dual-Space Smoothness for Robust and Balanced LLM Unlearning </a:t>
            </a:r>
          </a:p>
          <a:p>
            <a:r>
              <a:rPr lang="en-US" dirty="0"/>
              <a:t>4. </a:t>
            </a:r>
            <a:r>
              <a:rPr lang="en-US" dirty="0" err="1"/>
              <a:t>MMUnlearner</a:t>
            </a:r>
            <a:r>
              <a:rPr lang="en-US" dirty="0"/>
              <a:t>: Reformulating Multimodal Machine Unlearning in the Era of MLLMs</a:t>
            </a:r>
          </a:p>
          <a:p>
            <a:r>
              <a:rPr lang="en-US" dirty="0"/>
              <a:t>5. Modality-Aware Neuron Pruning for Unlearning in Multimodal Large Language Models (MANU)</a:t>
            </a:r>
          </a:p>
        </p:txBody>
      </p:sp>
    </p:spTree>
    <p:extLst>
      <p:ext uri="{BB962C8B-B14F-4D97-AF65-F5344CB8AC3E}">
        <p14:creationId xmlns:p14="http://schemas.microsoft.com/office/powerpoint/2010/main" val="972418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9E2E-4844-BA78-8A52-2419A96E6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4321F-4975-3174-706B-AF4C9B951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60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F2D8-1DEF-13E3-A2C9-2ACB34CD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II</a:t>
            </a:r>
          </a:p>
        </p:txBody>
      </p:sp>
    </p:spTree>
    <p:extLst>
      <p:ext uri="{BB962C8B-B14F-4D97-AF65-F5344CB8AC3E}">
        <p14:creationId xmlns:p14="http://schemas.microsoft.com/office/powerpoint/2010/main" val="612791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F2D8-1DEF-13E3-A2C9-2ACB34CD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19834-DFBD-65A6-5302-8367FC9DDFAA}"/>
              </a:ext>
            </a:extLst>
          </p:cNvPr>
          <p:cNvSpPr txBox="1"/>
          <p:nvPr/>
        </p:nvSpPr>
        <p:spPr>
          <a:xfrm>
            <a:off x="701607" y="2782669"/>
            <a:ext cx="19089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Yixin (Elaine) Wan</a:t>
            </a:r>
          </a:p>
          <a:p>
            <a:pPr algn="ctr"/>
            <a:r>
              <a:rPr lang="en-US" dirty="0"/>
              <a:t>UCLA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54EE4D-C5F3-9A1B-C397-D23654A0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311" y="1635351"/>
            <a:ext cx="1129900" cy="112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28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F2D8-1DEF-13E3-A2C9-2ACB34CD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IV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003AF-33E3-829B-1265-DDF82BCF6F9E}"/>
              </a:ext>
            </a:extLst>
          </p:cNvPr>
          <p:cNvSpPr txBox="1"/>
          <p:nvPr/>
        </p:nvSpPr>
        <p:spPr>
          <a:xfrm>
            <a:off x="6096000" y="2090057"/>
            <a:ext cx="35095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Paper List:</a:t>
            </a:r>
          </a:p>
          <a:p>
            <a:r>
              <a:rPr lang="en-US" dirty="0"/>
              <a:t>- TOFU</a:t>
            </a:r>
          </a:p>
          <a:p>
            <a:r>
              <a:rPr lang="en-US" dirty="0"/>
              <a:t>- WMDP</a:t>
            </a:r>
          </a:p>
          <a:p>
            <a:r>
              <a:rPr lang="en-US" dirty="0"/>
              <a:t>- MUSE</a:t>
            </a:r>
          </a:p>
          <a:p>
            <a:r>
              <a:rPr lang="en-US" dirty="0"/>
              <a:t>- MLLMU-Bench</a:t>
            </a:r>
          </a:p>
          <a:p>
            <a:r>
              <a:rPr lang="en-US" dirty="0"/>
              <a:t>- CLEAR</a:t>
            </a:r>
          </a:p>
        </p:txBody>
      </p:sp>
    </p:spTree>
    <p:extLst>
      <p:ext uri="{BB962C8B-B14F-4D97-AF65-F5344CB8AC3E}">
        <p14:creationId xmlns:p14="http://schemas.microsoft.com/office/powerpoint/2010/main" val="3265771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F2D8-1DEF-13E3-A2C9-2ACB34CDB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45A45-9017-0E47-2BDF-FE685254AB85}"/>
              </a:ext>
            </a:extLst>
          </p:cNvPr>
          <p:cNvSpPr txBox="1"/>
          <p:nvPr/>
        </p:nvSpPr>
        <p:spPr>
          <a:xfrm>
            <a:off x="907585" y="2902392"/>
            <a:ext cx="1305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Nouha Dziri</a:t>
            </a:r>
          </a:p>
          <a:p>
            <a:pPr algn="ctr"/>
            <a:r>
              <a:rPr lang="en-US" dirty="0"/>
              <a:t>AI2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FCBEB-08D3-FF2E-0DD0-8F1A5FF02528}"/>
              </a:ext>
            </a:extLst>
          </p:cNvPr>
          <p:cNvSpPr txBox="1"/>
          <p:nvPr/>
        </p:nvSpPr>
        <p:spPr>
          <a:xfrm>
            <a:off x="907585" y="5262352"/>
            <a:ext cx="13211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Yuning Mao</a:t>
            </a:r>
          </a:p>
          <a:p>
            <a:pPr algn="ctr"/>
            <a:r>
              <a:rPr lang="en-US" dirty="0"/>
              <a:t>Meta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88D27-89E3-3913-9FB8-1D492FF27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628" y="1905442"/>
            <a:ext cx="1123078" cy="996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90D22D-D768-1541-42B4-FDCF41417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14" y="4203696"/>
            <a:ext cx="1058656" cy="105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36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8732</TotalTime>
  <Words>258</Words>
  <Application>Microsoft Macintosh PowerPoint</Application>
  <PresentationFormat>Widescreen</PresentationFormat>
  <Paragraphs>55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Knowledge Control for Responsible Generative AI:  Bridging Academia, Industry and Society  </vt:lpstr>
      <vt:lpstr>Agenda</vt:lpstr>
      <vt:lpstr>Introduction</vt:lpstr>
      <vt:lpstr>Part I (30 mins)</vt:lpstr>
      <vt:lpstr>Part I</vt:lpstr>
      <vt:lpstr>Part II</vt:lpstr>
      <vt:lpstr>Part III</vt:lpstr>
      <vt:lpstr>Part IV</vt:lpstr>
      <vt:lpstr>Part 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Zheyuan Liu</dc:creator>
  <cp:lastModifiedBy>Zheyuan Liu</cp:lastModifiedBy>
  <cp:revision>23</cp:revision>
  <dcterms:created xsi:type="dcterms:W3CDTF">2026-04-01T14:49:05Z</dcterms:created>
  <dcterms:modified xsi:type="dcterms:W3CDTF">2026-04-07T16:22:01Z</dcterms:modified>
</cp:coreProperties>
</file>